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6" r:id="rId2"/>
    <p:sldId id="261" r:id="rId3"/>
    <p:sldId id="262" r:id="rId4"/>
    <p:sldId id="264" r:id="rId5"/>
    <p:sldId id="263" r:id="rId6"/>
    <p:sldId id="265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B5B8F4-A49B-46C1-9B2B-9DA15BF1703E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5AB04D-6104-4B74-B9C0-EEB7C41E90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8487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FB2E6F-E687-49E0-9105-DF3FA058DF83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35402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FB2E6F-E687-49E0-9105-DF3FA058DF83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2528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FB2E6F-E687-49E0-9105-DF3FA058DF83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0234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FB2E6F-E687-49E0-9105-DF3FA058DF83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36039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FB2E6F-E687-49E0-9105-DF3FA058DF83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5173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156DE-43B2-4E72-8685-8B2930A3C221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E5D3-ED98-41A3-A025-7BFC802C6A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7470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156DE-43B2-4E72-8685-8B2930A3C221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E5D3-ED98-41A3-A025-7BFC802C6A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5666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156DE-43B2-4E72-8685-8B2930A3C221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E5D3-ED98-41A3-A025-7BFC802C6A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0157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156DE-43B2-4E72-8685-8B2930A3C221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E5D3-ED98-41A3-A025-7BFC802C6A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4449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156DE-43B2-4E72-8685-8B2930A3C221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E5D3-ED98-41A3-A025-7BFC802C6A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5316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156DE-43B2-4E72-8685-8B2930A3C221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E5D3-ED98-41A3-A025-7BFC802C6A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4758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156DE-43B2-4E72-8685-8B2930A3C221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E5D3-ED98-41A3-A025-7BFC802C6A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7276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156DE-43B2-4E72-8685-8B2930A3C221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E5D3-ED98-41A3-A025-7BFC802C6A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2142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156DE-43B2-4E72-8685-8B2930A3C221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E5D3-ED98-41A3-A025-7BFC802C6A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1220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156DE-43B2-4E72-8685-8B2930A3C221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E5D3-ED98-41A3-A025-7BFC802C6A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548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156DE-43B2-4E72-8685-8B2930A3C221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E5D3-ED98-41A3-A025-7BFC802C6A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4932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1 Colu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6" descr="Fundo_azul_grafismo_05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57" b="26205"/>
          <a:stretch/>
        </p:blipFill>
        <p:spPr>
          <a:xfrm>
            <a:off x="8913625" y="6268072"/>
            <a:ext cx="3291703" cy="764704"/>
          </a:xfrm>
          <a:prstGeom prst="rect">
            <a:avLst/>
          </a:prstGeom>
        </p:spPr>
      </p:pic>
      <p:sp>
        <p:nvSpPr>
          <p:cNvPr id="12" name="Content Placeholder 11"/>
          <p:cNvSpPr>
            <a:spLocks noGrp="1"/>
          </p:cNvSpPr>
          <p:nvPr>
            <p:ph sz="quarter" idx="13" hasCustomPrompt="1"/>
          </p:nvPr>
        </p:nvSpPr>
        <p:spPr>
          <a:xfrm>
            <a:off x="335360" y="1341438"/>
            <a:ext cx="11521280" cy="44640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700" b="0" i="0" baseline="0">
                <a:latin typeface="Verdana"/>
              </a:defRPr>
            </a:lvl1pPr>
            <a:lvl2pPr marL="457200" indent="0">
              <a:buNone/>
              <a:defRPr sz="1700" b="0" i="0" baseline="0">
                <a:latin typeface="Verdana"/>
              </a:defRPr>
            </a:lvl2pPr>
            <a:lvl3pPr marL="914400" indent="0">
              <a:buNone/>
              <a:defRPr sz="1700" b="0" i="0" baseline="0">
                <a:latin typeface="Verdana"/>
              </a:defRPr>
            </a:lvl3pPr>
          </a:lstStyle>
          <a:p>
            <a:pPr lvl="0"/>
            <a:r>
              <a:rPr lang="pt-BR"/>
              <a:t>TEXTO</a:t>
            </a:r>
            <a:endParaRPr lang="x-none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05" y="6093296"/>
            <a:ext cx="5761567" cy="207050"/>
          </a:xfrm>
          <a:prstGeom prst="rect">
            <a:avLst/>
          </a:prstGeom>
        </p:spPr>
        <p:txBody>
          <a:bodyPr tIns="0">
            <a:normAutofit/>
          </a:bodyPr>
          <a:lstStyle>
            <a:lvl1pPr marL="0" indent="0" algn="r">
              <a:buNone/>
              <a:defRPr sz="800" baseline="0">
                <a:latin typeface="Verdana"/>
              </a:defRPr>
            </a:lvl1pPr>
          </a:lstStyle>
          <a:p>
            <a:pPr lvl="0"/>
            <a:r>
              <a:rPr lang="pt-BR"/>
              <a:t>Fonte: </a:t>
            </a:r>
            <a:endParaRPr lang="en-US"/>
          </a:p>
        </p:txBody>
      </p:sp>
      <p:sp>
        <p:nvSpPr>
          <p:cNvPr id="22" name="Title 1"/>
          <p:cNvSpPr>
            <a:spLocks noGrp="1"/>
          </p:cNvSpPr>
          <p:nvPr>
            <p:ph type="ctrTitle" hasCustomPrompt="1"/>
          </p:nvPr>
        </p:nvSpPr>
        <p:spPr>
          <a:xfrm>
            <a:off x="492797" y="174293"/>
            <a:ext cx="10211715" cy="590415"/>
          </a:xfrm>
          <a:prstGeom prst="rect">
            <a:avLst/>
          </a:prstGeom>
        </p:spPr>
        <p:txBody>
          <a:bodyPr wrap="square" lIns="0" rIns="0" anchor="t" anchorCtr="0">
            <a:noAutofit/>
          </a:bodyPr>
          <a:lstStyle>
            <a:lvl1pPr algn="l">
              <a:defRPr sz="3600">
                <a:latin typeface="Verdana"/>
                <a:ea typeface="Adobe 고딕 Std B"/>
              </a:defRPr>
            </a:lvl1pPr>
          </a:lstStyle>
          <a:p>
            <a:r>
              <a:rPr lang="en-US"/>
              <a:t>TÍTULO</a:t>
            </a:r>
          </a:p>
        </p:txBody>
      </p:sp>
      <p:sp>
        <p:nvSpPr>
          <p:cNvPr id="2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797" y="728075"/>
            <a:ext cx="10211715" cy="540339"/>
          </a:xfrm>
          <a:prstGeom prst="rect">
            <a:avLst/>
          </a:prstGeom>
        </p:spPr>
        <p:txBody>
          <a:bodyPr wrap="square" lIns="0" tIns="36000" rIns="0" bIns="36000">
            <a:noAutofit/>
          </a:bodyPr>
          <a:lstStyle>
            <a:lvl1pPr marL="0" indent="0" algn="l">
              <a:buNone/>
              <a:defRPr sz="1800" baseline="0">
                <a:solidFill>
                  <a:srgbClr val="00ABBD"/>
                </a:solidFill>
                <a:latin typeface="Verdan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SUBTÍTULO</a:t>
            </a:r>
          </a:p>
        </p:txBody>
      </p:sp>
      <p:sp>
        <p:nvSpPr>
          <p:cNvPr id="24" name="Text Placeholder 14"/>
          <p:cNvSpPr>
            <a:spLocks noGrp="1"/>
          </p:cNvSpPr>
          <p:nvPr>
            <p:ph type="body" sz="quarter" idx="16" hasCustomPrompt="1"/>
          </p:nvPr>
        </p:nvSpPr>
        <p:spPr>
          <a:xfrm>
            <a:off x="334438" y="5805494"/>
            <a:ext cx="5761567" cy="287337"/>
          </a:xfrm>
          <a:prstGeom prst="rect">
            <a:avLst/>
          </a:prstGeom>
        </p:spPr>
        <p:txBody>
          <a:bodyPr lIns="0" tIns="36000" rIns="72000" bIns="0">
            <a:noAutofit/>
          </a:bodyPr>
          <a:lstStyle>
            <a:lvl1pPr marL="0" indent="0" algn="l">
              <a:buNone/>
              <a:defRPr sz="800" baseline="0">
                <a:latin typeface="Verdana"/>
              </a:defRPr>
            </a:lvl1pPr>
          </a:lstStyle>
          <a:p>
            <a:pPr lvl="0"/>
            <a:r>
              <a:rPr lang="pt-BR" err="1"/>
              <a:t>Footnote</a:t>
            </a:r>
            <a:r>
              <a:rPr lang="pt-BR"/>
              <a:t> 1: </a:t>
            </a:r>
            <a:endParaRPr lang="en-US"/>
          </a:p>
        </p:txBody>
      </p:sp>
      <p:sp>
        <p:nvSpPr>
          <p:cNvPr id="25" name="Text Placeholder 14"/>
          <p:cNvSpPr>
            <a:spLocks noGrp="1"/>
          </p:cNvSpPr>
          <p:nvPr>
            <p:ph type="body" sz="quarter" idx="17" hasCustomPrompt="1"/>
          </p:nvPr>
        </p:nvSpPr>
        <p:spPr>
          <a:xfrm>
            <a:off x="6112871" y="5805494"/>
            <a:ext cx="5761567" cy="287337"/>
          </a:xfrm>
          <a:prstGeom prst="rect">
            <a:avLst/>
          </a:prstGeom>
        </p:spPr>
        <p:txBody>
          <a:bodyPr lIns="0" tIns="36000" rIns="72000" bIns="0">
            <a:noAutofit/>
          </a:bodyPr>
          <a:lstStyle>
            <a:lvl1pPr marL="0" indent="0" algn="l">
              <a:buNone/>
              <a:defRPr sz="800" baseline="0">
                <a:latin typeface="Verdana"/>
              </a:defRPr>
            </a:lvl1pPr>
          </a:lstStyle>
          <a:p>
            <a:pPr lvl="0"/>
            <a:r>
              <a:rPr lang="pt-BR" err="1"/>
              <a:t>Footnote</a:t>
            </a:r>
            <a:r>
              <a:rPr lang="pt-BR"/>
              <a:t> 2: </a:t>
            </a:r>
            <a:endParaRPr lang="en-US"/>
          </a:p>
        </p:txBody>
      </p:sp>
      <p:pic>
        <p:nvPicPr>
          <p:cNvPr id="18" name="Picture 15" descr="logo_GRUAIRPORT_rodape_AZUL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67" y="6382218"/>
            <a:ext cx="2584532" cy="26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148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156DE-43B2-4E72-8685-8B2930A3C221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3E5D3-ED98-41A3-A025-7BFC802C6A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6158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sz="quarter" idx="13"/>
          </p:nvPr>
        </p:nvSpPr>
        <p:spPr>
          <a:xfrm>
            <a:off x="1732083" y="1297477"/>
            <a:ext cx="8792309" cy="4464050"/>
          </a:xfrm>
        </p:spPr>
        <p:txBody>
          <a:bodyPr>
            <a:normAutofit/>
          </a:bodyPr>
          <a:lstStyle/>
          <a:p>
            <a:pPr algn="ctr"/>
            <a:r>
              <a:rPr lang="pt-BR" sz="2800" dirty="0" smtClean="0"/>
              <a:t>Este </a:t>
            </a:r>
            <a:r>
              <a:rPr lang="pt-BR" sz="2800" dirty="0"/>
              <a:t>documento fornece uma descrição técnica de um </a:t>
            </a:r>
            <a:r>
              <a:rPr lang="pt-BR" sz="2800" dirty="0" smtClean="0"/>
              <a:t>dos ambientes </a:t>
            </a:r>
            <a:r>
              <a:rPr lang="pt-BR" sz="2800" dirty="0"/>
              <a:t>de proxy reverso Linux e a proposta para sua </a:t>
            </a:r>
            <a:r>
              <a:rPr lang="pt-BR" sz="2800" dirty="0" smtClean="0"/>
              <a:t>otimização.</a:t>
            </a:r>
            <a:endParaRPr lang="pt-BR" sz="2800" dirty="0"/>
          </a:p>
        </p:txBody>
      </p:sp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pt-BR" sz="3000" b="1" dirty="0"/>
              <a:t>Novo Proxy Reverso</a:t>
            </a:r>
          </a:p>
        </p:txBody>
      </p:sp>
    </p:spTree>
    <p:extLst>
      <p:ext uri="{BB962C8B-B14F-4D97-AF65-F5344CB8AC3E}">
        <p14:creationId xmlns:p14="http://schemas.microsoft.com/office/powerpoint/2010/main" val="3607131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5560042" y="4377242"/>
            <a:ext cx="1855180" cy="6242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192.168.0.25</a:t>
            </a:r>
          </a:p>
          <a:p>
            <a:pPr algn="ctr"/>
            <a:r>
              <a:rPr lang="pt-BR" dirty="0" smtClean="0">
                <a:solidFill>
                  <a:srgbClr val="FF0000"/>
                </a:solidFill>
              </a:rPr>
              <a:t>sprdaprpgru04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5516075" y="1984092"/>
            <a:ext cx="1899147" cy="6242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192.168.0.26</a:t>
            </a:r>
          </a:p>
          <a:p>
            <a:pPr algn="ctr"/>
            <a:r>
              <a:rPr lang="pt-BR" dirty="0" smtClean="0">
                <a:solidFill>
                  <a:srgbClr val="FF0000"/>
                </a:solidFill>
              </a:rPr>
              <a:t>sprdaprpgru03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886930" y="1799426"/>
            <a:ext cx="2817932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ams.gru.com.br</a:t>
            </a:r>
            <a:endParaRPr lang="pt-BR" dirty="0"/>
          </a:p>
        </p:txBody>
      </p:sp>
      <p:sp>
        <p:nvSpPr>
          <p:cNvPr id="7" name="CaixaDeTexto 6"/>
          <p:cNvSpPr txBox="1"/>
          <p:nvPr/>
        </p:nvSpPr>
        <p:spPr>
          <a:xfrm>
            <a:off x="886930" y="3150200"/>
            <a:ext cx="2817932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hstvoos.gru.com.br</a:t>
            </a:r>
            <a:endParaRPr lang="pt-BR" dirty="0"/>
          </a:p>
        </p:txBody>
      </p:sp>
      <p:sp>
        <p:nvSpPr>
          <p:cNvPr id="8" name="CaixaDeTexto 7"/>
          <p:cNvSpPr txBox="1"/>
          <p:nvPr/>
        </p:nvSpPr>
        <p:spPr>
          <a:xfrm>
            <a:off x="886930" y="2699942"/>
            <a:ext cx="2817932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evids.gru.com.br</a:t>
            </a:r>
            <a:endParaRPr lang="pt-BR" dirty="0"/>
          </a:p>
        </p:txBody>
      </p:sp>
      <p:sp>
        <p:nvSpPr>
          <p:cNvPr id="9" name="CaixaDeTexto 8"/>
          <p:cNvSpPr txBox="1"/>
          <p:nvPr/>
        </p:nvSpPr>
        <p:spPr>
          <a:xfrm>
            <a:off x="886930" y="4951231"/>
            <a:ext cx="2817932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ssim.gru.com.br</a:t>
            </a:r>
            <a:endParaRPr lang="pt-BR" dirty="0"/>
          </a:p>
        </p:txBody>
      </p:sp>
      <p:sp>
        <p:nvSpPr>
          <p:cNvPr id="10" name="CaixaDeTexto 9"/>
          <p:cNvSpPr txBox="1"/>
          <p:nvPr/>
        </p:nvSpPr>
        <p:spPr>
          <a:xfrm>
            <a:off x="886930" y="2249684"/>
            <a:ext cx="2817932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bcbp.gru.com.br</a:t>
            </a:r>
            <a:endParaRPr lang="pt-BR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886930" y="4500974"/>
            <a:ext cx="2817932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ssacad.gru.com.br</a:t>
            </a:r>
            <a:endParaRPr lang="pt-BR" dirty="0"/>
          </a:p>
        </p:txBody>
      </p:sp>
      <p:sp>
        <p:nvSpPr>
          <p:cNvPr id="12" name="CaixaDeTexto 11"/>
          <p:cNvSpPr txBox="1"/>
          <p:nvPr/>
        </p:nvSpPr>
        <p:spPr>
          <a:xfrm>
            <a:off x="886930" y="4050716"/>
            <a:ext cx="2817932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servicedesk.gru.com.br</a:t>
            </a:r>
            <a:endParaRPr lang="pt-BR" dirty="0"/>
          </a:p>
        </p:txBody>
      </p:sp>
      <p:cxnSp>
        <p:nvCxnSpPr>
          <p:cNvPr id="13" name="Conector de Seta Reta 12"/>
          <p:cNvCxnSpPr>
            <a:stCxn id="6" idx="3"/>
            <a:endCxn id="5" idx="1"/>
          </p:cNvCxnSpPr>
          <p:nvPr/>
        </p:nvCxnSpPr>
        <p:spPr>
          <a:xfrm>
            <a:off x="3704862" y="1984092"/>
            <a:ext cx="1811213" cy="312127"/>
          </a:xfrm>
          <a:prstGeom prst="straightConnector1">
            <a:avLst/>
          </a:prstGeom>
          <a:ln w="28575"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7" idx="3"/>
            <a:endCxn id="5" idx="1"/>
          </p:cNvCxnSpPr>
          <p:nvPr/>
        </p:nvCxnSpPr>
        <p:spPr>
          <a:xfrm flipV="1">
            <a:off x="3704862" y="2296219"/>
            <a:ext cx="1811213" cy="1038647"/>
          </a:xfrm>
          <a:prstGeom prst="straightConnector1">
            <a:avLst/>
          </a:prstGeom>
          <a:ln w="28575"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8" idx="3"/>
            <a:endCxn id="5" idx="1"/>
          </p:cNvCxnSpPr>
          <p:nvPr/>
        </p:nvCxnSpPr>
        <p:spPr>
          <a:xfrm flipV="1">
            <a:off x="3704862" y="2296219"/>
            <a:ext cx="1811213" cy="588389"/>
          </a:xfrm>
          <a:prstGeom prst="straightConnector1">
            <a:avLst/>
          </a:prstGeom>
          <a:ln w="28575"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10" idx="3"/>
            <a:endCxn id="21" idx="1"/>
          </p:cNvCxnSpPr>
          <p:nvPr/>
        </p:nvCxnSpPr>
        <p:spPr>
          <a:xfrm>
            <a:off x="3704862" y="2434350"/>
            <a:ext cx="1891082" cy="1060974"/>
          </a:xfrm>
          <a:prstGeom prst="straightConnector1">
            <a:avLst/>
          </a:prstGeom>
          <a:ln w="28575"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9" idx="3"/>
            <a:endCxn id="4" idx="1"/>
          </p:cNvCxnSpPr>
          <p:nvPr/>
        </p:nvCxnSpPr>
        <p:spPr>
          <a:xfrm flipV="1">
            <a:off x="3704862" y="4689369"/>
            <a:ext cx="1855180" cy="446528"/>
          </a:xfrm>
          <a:prstGeom prst="straightConnector1">
            <a:avLst/>
          </a:prstGeom>
          <a:ln w="28575"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8" idx="3"/>
            <a:endCxn id="4" idx="1"/>
          </p:cNvCxnSpPr>
          <p:nvPr/>
        </p:nvCxnSpPr>
        <p:spPr>
          <a:xfrm>
            <a:off x="3704862" y="2884608"/>
            <a:ext cx="1855180" cy="1804761"/>
          </a:xfrm>
          <a:prstGeom prst="straightConnector1">
            <a:avLst/>
          </a:prstGeom>
          <a:ln w="28575"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7" idx="3"/>
            <a:endCxn id="4" idx="1"/>
          </p:cNvCxnSpPr>
          <p:nvPr/>
        </p:nvCxnSpPr>
        <p:spPr>
          <a:xfrm>
            <a:off x="3704862" y="3334866"/>
            <a:ext cx="1855180" cy="1354503"/>
          </a:xfrm>
          <a:prstGeom prst="straightConnector1">
            <a:avLst/>
          </a:prstGeom>
          <a:ln w="28575"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11" idx="3"/>
            <a:endCxn id="4" idx="1"/>
          </p:cNvCxnSpPr>
          <p:nvPr/>
        </p:nvCxnSpPr>
        <p:spPr>
          <a:xfrm>
            <a:off x="3704862" y="4685640"/>
            <a:ext cx="1855180" cy="3729"/>
          </a:xfrm>
          <a:prstGeom prst="straightConnector1">
            <a:avLst/>
          </a:prstGeom>
          <a:ln w="28575"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5595944" y="3242007"/>
            <a:ext cx="1739410" cy="506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192.168.0.28</a:t>
            </a:r>
          </a:p>
          <a:p>
            <a:pPr algn="ctr"/>
            <a:r>
              <a:rPr lang="pt-BR" dirty="0" smtClean="0"/>
              <a:t>VIP</a:t>
            </a:r>
            <a:endParaRPr lang="pt-BR" dirty="0"/>
          </a:p>
        </p:txBody>
      </p:sp>
      <p:cxnSp>
        <p:nvCxnSpPr>
          <p:cNvPr id="22" name="Conector de Seta Reta 21"/>
          <p:cNvCxnSpPr>
            <a:stCxn id="12" idx="3"/>
            <a:endCxn id="5" idx="1"/>
          </p:cNvCxnSpPr>
          <p:nvPr/>
        </p:nvCxnSpPr>
        <p:spPr>
          <a:xfrm flipV="1">
            <a:off x="3704862" y="2296219"/>
            <a:ext cx="1811213" cy="1939163"/>
          </a:xfrm>
          <a:prstGeom prst="straightConnector1">
            <a:avLst/>
          </a:prstGeom>
          <a:ln w="28575"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886930" y="3600458"/>
            <a:ext cx="2817932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juridico.gru.com.br</a:t>
            </a:r>
            <a:endParaRPr lang="pt-BR" dirty="0"/>
          </a:p>
        </p:txBody>
      </p:sp>
      <p:cxnSp>
        <p:nvCxnSpPr>
          <p:cNvPr id="24" name="Conector de Seta Reta 23"/>
          <p:cNvCxnSpPr>
            <a:stCxn id="23" idx="3"/>
            <a:endCxn id="5" idx="1"/>
          </p:cNvCxnSpPr>
          <p:nvPr/>
        </p:nvCxnSpPr>
        <p:spPr>
          <a:xfrm flipV="1">
            <a:off x="3704862" y="2296219"/>
            <a:ext cx="1811213" cy="1488905"/>
          </a:xfrm>
          <a:prstGeom prst="straightConnector1">
            <a:avLst/>
          </a:prstGeom>
          <a:ln w="28575"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8471743" y="2086883"/>
            <a:ext cx="29718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 smtClean="0"/>
              <a:t>Serviço não possui redundância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 smtClean="0"/>
              <a:t>Somente 2 sites apontam para os dois </a:t>
            </a:r>
            <a:r>
              <a:rPr lang="pt-BR" sz="2000" dirty="0" err="1" smtClean="0"/>
              <a:t>proxys</a:t>
            </a:r>
            <a:endParaRPr lang="pt-BR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 smtClean="0"/>
              <a:t>Somente 1 site aponta para o VIP</a:t>
            </a:r>
          </a:p>
          <a:p>
            <a:endParaRPr lang="pt-BR" sz="2000" dirty="0" smtClean="0"/>
          </a:p>
        </p:txBody>
      </p:sp>
      <p:sp>
        <p:nvSpPr>
          <p:cNvPr id="26" name="Título 1"/>
          <p:cNvSpPr txBox="1">
            <a:spLocks/>
          </p:cNvSpPr>
          <p:nvPr/>
        </p:nvSpPr>
        <p:spPr>
          <a:xfrm>
            <a:off x="838200" y="365125"/>
            <a:ext cx="10515600" cy="97473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 dirty="0">
                <a:latin typeface="Verdana"/>
                <a:ea typeface="Adobe 고딕 Std B"/>
              </a:rPr>
              <a:t>Cenário </a:t>
            </a:r>
            <a:r>
              <a:rPr lang="pt-BR" sz="3000" b="1" dirty="0">
                <a:latin typeface="Verdana"/>
                <a:ea typeface="Adobe 고딕 Std B"/>
              </a:rPr>
              <a:t>atual do Proxy </a:t>
            </a:r>
            <a:r>
              <a:rPr lang="pt-BR" sz="3000" b="1" dirty="0">
                <a:latin typeface="Verdana"/>
                <a:ea typeface="Adobe 고딕 Std B"/>
              </a:rPr>
              <a:t>Reverso listando somente os sites UP</a:t>
            </a:r>
          </a:p>
        </p:txBody>
      </p:sp>
      <p:cxnSp>
        <p:nvCxnSpPr>
          <p:cNvPr id="27" name="Conector de Seta Reta 26"/>
          <p:cNvCxnSpPr>
            <a:stCxn id="5" idx="2"/>
            <a:endCxn id="21" idx="0"/>
          </p:cNvCxnSpPr>
          <p:nvPr/>
        </p:nvCxnSpPr>
        <p:spPr>
          <a:xfrm>
            <a:off x="6465649" y="2608345"/>
            <a:ext cx="0" cy="633662"/>
          </a:xfrm>
          <a:prstGeom prst="straightConnector1">
            <a:avLst/>
          </a:prstGeom>
          <a:ln w="28575">
            <a:solidFill>
              <a:srgbClr val="002060"/>
            </a:solidFill>
            <a:headEnd type="triangle" w="med" len="med"/>
            <a:tailEnd type="triangl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21" idx="2"/>
            <a:endCxn id="4" idx="0"/>
          </p:cNvCxnSpPr>
          <p:nvPr/>
        </p:nvCxnSpPr>
        <p:spPr>
          <a:xfrm>
            <a:off x="6465649" y="3748640"/>
            <a:ext cx="21983" cy="628602"/>
          </a:xfrm>
          <a:prstGeom prst="straightConnector1">
            <a:avLst/>
          </a:prstGeom>
          <a:ln w="19050">
            <a:solidFill>
              <a:srgbClr val="002060"/>
            </a:solidFill>
            <a:headEnd type="triangle" w="med" len="med"/>
            <a:tailEnd type="triangl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6200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82516" y="1301262"/>
            <a:ext cx="7746023" cy="5094101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8732873" y="1608289"/>
            <a:ext cx="310896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Servidores possuem diversos resquícios de configurações invalidas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Configurações dos servidores são diferentes, impossibilitando redundância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Diversos sites já foram desativados ou foram migrados para outros servidores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Servidores </a:t>
            </a:r>
            <a:r>
              <a:rPr lang="pt-BR" dirty="0" err="1" smtClean="0"/>
              <a:t>Ubuntu</a:t>
            </a:r>
            <a:r>
              <a:rPr lang="pt-BR" dirty="0" smtClean="0"/>
              <a:t> 16 antigos e sem suporte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Apontamentos incorretos de </a:t>
            </a:r>
            <a:r>
              <a:rPr lang="pt-BR" dirty="0" err="1" smtClean="0"/>
              <a:t>dns</a:t>
            </a:r>
            <a:r>
              <a:rPr lang="pt-BR" dirty="0" smtClean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838200" y="365126"/>
            <a:ext cx="10515600" cy="742706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Verdana"/>
                <a:ea typeface="Adobe 고딕 Std B"/>
                <a:cs typeface="+mj-cs"/>
              </a:defRPr>
            </a:lvl1pPr>
          </a:lstStyle>
          <a:p>
            <a:pPr algn="ctr"/>
            <a:r>
              <a:rPr lang="pt-BR" sz="3200" b="1" dirty="0" smtClean="0"/>
              <a:t>Cenário atual com todas configurações dos </a:t>
            </a:r>
            <a:r>
              <a:rPr lang="pt-BR" sz="3200" b="1" dirty="0" err="1" smtClean="0"/>
              <a:t>Proxys</a:t>
            </a:r>
            <a:endParaRPr lang="pt-BR" sz="3200" b="1" dirty="0"/>
          </a:p>
        </p:txBody>
      </p:sp>
    </p:spTree>
    <p:extLst>
      <p:ext uri="{BB962C8B-B14F-4D97-AF65-F5344CB8AC3E}">
        <p14:creationId xmlns:p14="http://schemas.microsoft.com/office/powerpoint/2010/main" val="4274355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6158645" y="4039675"/>
            <a:ext cx="1859941" cy="624253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rgbClr val="002060"/>
                </a:solidFill>
              </a:rPr>
              <a:t>SPRDAPRPGRU15</a:t>
            </a: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6105523" y="1659328"/>
            <a:ext cx="1895480" cy="624253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rgbClr val="002060"/>
                </a:solidFill>
              </a:rPr>
              <a:t>SPRDAPRPGRU14</a:t>
            </a: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930520" y="1423014"/>
            <a:ext cx="2817932" cy="369332"/>
          </a:xfrm>
          <a:prstGeom prst="rect">
            <a:avLst/>
          </a:prstGeom>
          <a:solidFill>
            <a:srgbClr val="00B0F0"/>
          </a:solidFill>
          <a:ln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ams.gru.com.br</a:t>
            </a:r>
            <a:endParaRPr lang="pt-BR" dirty="0"/>
          </a:p>
        </p:txBody>
      </p:sp>
      <p:sp>
        <p:nvSpPr>
          <p:cNvPr id="7" name="CaixaDeTexto 6"/>
          <p:cNvSpPr txBox="1"/>
          <p:nvPr/>
        </p:nvSpPr>
        <p:spPr>
          <a:xfrm>
            <a:off x="930520" y="1882581"/>
            <a:ext cx="2817932" cy="369332"/>
          </a:xfrm>
          <a:prstGeom prst="rect">
            <a:avLst/>
          </a:prstGeom>
          <a:solidFill>
            <a:srgbClr val="00B0F0"/>
          </a:solidFill>
          <a:ln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hstvoos.gru.com.br</a:t>
            </a:r>
            <a:endParaRPr lang="pt-BR" dirty="0"/>
          </a:p>
        </p:txBody>
      </p:sp>
      <p:sp>
        <p:nvSpPr>
          <p:cNvPr id="8" name="CaixaDeTexto 7"/>
          <p:cNvSpPr txBox="1"/>
          <p:nvPr/>
        </p:nvSpPr>
        <p:spPr>
          <a:xfrm>
            <a:off x="930520" y="2342148"/>
            <a:ext cx="2817932" cy="369332"/>
          </a:xfrm>
          <a:prstGeom prst="rect">
            <a:avLst/>
          </a:prstGeom>
          <a:solidFill>
            <a:srgbClr val="00B0F0"/>
          </a:solidFill>
          <a:ln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evids.gru.com.br</a:t>
            </a:r>
            <a:endParaRPr lang="pt-BR" dirty="0"/>
          </a:p>
        </p:txBody>
      </p:sp>
      <p:sp>
        <p:nvSpPr>
          <p:cNvPr id="9" name="CaixaDeTexto 8"/>
          <p:cNvSpPr txBox="1"/>
          <p:nvPr/>
        </p:nvSpPr>
        <p:spPr>
          <a:xfrm>
            <a:off x="930520" y="2801715"/>
            <a:ext cx="2817932" cy="369332"/>
          </a:xfrm>
          <a:prstGeom prst="rect">
            <a:avLst/>
          </a:prstGeom>
          <a:solidFill>
            <a:srgbClr val="00B0F0"/>
          </a:solidFill>
          <a:ln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ssim.gru.com.br</a:t>
            </a:r>
            <a:endParaRPr lang="pt-BR" dirty="0"/>
          </a:p>
        </p:txBody>
      </p:sp>
      <p:sp>
        <p:nvSpPr>
          <p:cNvPr id="10" name="CaixaDeTexto 9"/>
          <p:cNvSpPr txBox="1"/>
          <p:nvPr/>
        </p:nvSpPr>
        <p:spPr>
          <a:xfrm>
            <a:off x="930520" y="3261282"/>
            <a:ext cx="2817932" cy="369332"/>
          </a:xfrm>
          <a:prstGeom prst="rect">
            <a:avLst/>
          </a:prstGeom>
          <a:solidFill>
            <a:srgbClr val="00B0F0"/>
          </a:solidFill>
          <a:ln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bcbp.gru.com.br</a:t>
            </a:r>
            <a:endParaRPr lang="pt-BR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930521" y="3720849"/>
            <a:ext cx="2803276" cy="369332"/>
          </a:xfrm>
          <a:prstGeom prst="rect">
            <a:avLst/>
          </a:prstGeom>
          <a:solidFill>
            <a:srgbClr val="00B0F0"/>
          </a:solidFill>
          <a:ln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ssacad.gru.com.br</a:t>
            </a:r>
            <a:endParaRPr lang="pt-BR" dirty="0"/>
          </a:p>
        </p:txBody>
      </p:sp>
      <p:sp>
        <p:nvSpPr>
          <p:cNvPr id="12" name="CaixaDeTexto 11"/>
          <p:cNvSpPr txBox="1"/>
          <p:nvPr/>
        </p:nvSpPr>
        <p:spPr>
          <a:xfrm>
            <a:off x="930520" y="4180416"/>
            <a:ext cx="2817932" cy="369332"/>
          </a:xfrm>
          <a:prstGeom prst="rect">
            <a:avLst/>
          </a:prstGeom>
          <a:solidFill>
            <a:srgbClr val="00B0F0"/>
          </a:solidFill>
          <a:ln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servicedesk.gru.com.br</a:t>
            </a:r>
            <a:endParaRPr lang="pt-BR" dirty="0"/>
          </a:p>
        </p:txBody>
      </p:sp>
      <p:cxnSp>
        <p:nvCxnSpPr>
          <p:cNvPr id="13" name="Conector de Seta Reta 12"/>
          <p:cNvCxnSpPr>
            <a:stCxn id="6" idx="3"/>
            <a:endCxn id="21" idx="1"/>
          </p:cNvCxnSpPr>
          <p:nvPr/>
        </p:nvCxnSpPr>
        <p:spPr>
          <a:xfrm>
            <a:off x="3748452" y="1607680"/>
            <a:ext cx="2453790" cy="1564730"/>
          </a:xfrm>
          <a:prstGeom prst="straightConnector1">
            <a:avLst/>
          </a:prstGeom>
          <a:ln w="28575">
            <a:solidFill>
              <a:srgbClr val="002060"/>
            </a:solidFill>
            <a:headEnd type="diamond" w="med" len="med"/>
            <a:tailEnd type="triangl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7" idx="3"/>
            <a:endCxn id="21" idx="1"/>
          </p:cNvCxnSpPr>
          <p:nvPr/>
        </p:nvCxnSpPr>
        <p:spPr>
          <a:xfrm>
            <a:off x="3748452" y="2067247"/>
            <a:ext cx="2453790" cy="1105163"/>
          </a:xfrm>
          <a:prstGeom prst="straightConnector1">
            <a:avLst/>
          </a:prstGeom>
          <a:ln w="28575">
            <a:solidFill>
              <a:srgbClr val="002060"/>
            </a:solidFill>
            <a:headEnd type="diamond" w="med" len="med"/>
            <a:tailEnd type="triangl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8" idx="3"/>
            <a:endCxn id="21" idx="1"/>
          </p:cNvCxnSpPr>
          <p:nvPr/>
        </p:nvCxnSpPr>
        <p:spPr>
          <a:xfrm>
            <a:off x="3748452" y="2526814"/>
            <a:ext cx="2453790" cy="645596"/>
          </a:xfrm>
          <a:prstGeom prst="straightConnector1">
            <a:avLst/>
          </a:prstGeom>
          <a:ln w="28575">
            <a:solidFill>
              <a:srgbClr val="002060"/>
            </a:solidFill>
            <a:headEnd type="diamond" w="med" len="med"/>
            <a:tailEnd type="triangl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10" idx="3"/>
            <a:endCxn id="21" idx="1"/>
          </p:cNvCxnSpPr>
          <p:nvPr/>
        </p:nvCxnSpPr>
        <p:spPr>
          <a:xfrm flipV="1">
            <a:off x="3748452" y="3172410"/>
            <a:ext cx="2453790" cy="273538"/>
          </a:xfrm>
          <a:prstGeom prst="straightConnector1">
            <a:avLst/>
          </a:prstGeom>
          <a:ln w="28575">
            <a:solidFill>
              <a:srgbClr val="002060"/>
            </a:solidFill>
            <a:headEnd type="diamond" w="med" len="med"/>
            <a:tailEnd type="triangl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9" idx="3"/>
            <a:endCxn id="21" idx="1"/>
          </p:cNvCxnSpPr>
          <p:nvPr/>
        </p:nvCxnSpPr>
        <p:spPr>
          <a:xfrm>
            <a:off x="3748452" y="2986381"/>
            <a:ext cx="2453790" cy="186029"/>
          </a:xfrm>
          <a:prstGeom prst="straightConnector1">
            <a:avLst/>
          </a:prstGeom>
          <a:ln w="28575">
            <a:solidFill>
              <a:srgbClr val="002060"/>
            </a:solidFill>
            <a:headEnd type="diamond" w="med" len="med"/>
            <a:tailEnd type="triangl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8" idx="3"/>
            <a:endCxn id="21" idx="1"/>
          </p:cNvCxnSpPr>
          <p:nvPr/>
        </p:nvCxnSpPr>
        <p:spPr>
          <a:xfrm>
            <a:off x="3748452" y="2526814"/>
            <a:ext cx="2453790" cy="645596"/>
          </a:xfrm>
          <a:prstGeom prst="straightConnector1">
            <a:avLst/>
          </a:prstGeom>
          <a:ln w="28575">
            <a:solidFill>
              <a:srgbClr val="002060"/>
            </a:solidFill>
            <a:headEnd type="diamond" w="med" len="med"/>
            <a:tailEnd type="triangl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7" idx="3"/>
            <a:endCxn id="21" idx="1"/>
          </p:cNvCxnSpPr>
          <p:nvPr/>
        </p:nvCxnSpPr>
        <p:spPr>
          <a:xfrm>
            <a:off x="3748452" y="2067247"/>
            <a:ext cx="2453790" cy="1105163"/>
          </a:xfrm>
          <a:prstGeom prst="straightConnector1">
            <a:avLst/>
          </a:prstGeom>
          <a:ln w="28575">
            <a:solidFill>
              <a:srgbClr val="002060"/>
            </a:solidFill>
            <a:headEnd type="diamond" w="med" len="med"/>
            <a:tailEnd type="triangl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11" idx="3"/>
            <a:endCxn id="21" idx="1"/>
          </p:cNvCxnSpPr>
          <p:nvPr/>
        </p:nvCxnSpPr>
        <p:spPr>
          <a:xfrm flipV="1">
            <a:off x="3733797" y="3172410"/>
            <a:ext cx="2468445" cy="733105"/>
          </a:xfrm>
          <a:prstGeom prst="straightConnector1">
            <a:avLst/>
          </a:prstGeom>
          <a:ln w="28575">
            <a:solidFill>
              <a:srgbClr val="002060"/>
            </a:solidFill>
            <a:headEnd type="diamond" w="med" len="med"/>
            <a:tailEnd type="triangl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6202242" y="2919093"/>
            <a:ext cx="1739410" cy="506633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Novo VIP</a:t>
            </a:r>
            <a:endParaRPr lang="pt-BR" dirty="0"/>
          </a:p>
        </p:txBody>
      </p:sp>
      <p:cxnSp>
        <p:nvCxnSpPr>
          <p:cNvPr id="22" name="Conector de Seta Reta 21"/>
          <p:cNvCxnSpPr>
            <a:stCxn id="12" idx="3"/>
            <a:endCxn id="21" idx="1"/>
          </p:cNvCxnSpPr>
          <p:nvPr/>
        </p:nvCxnSpPr>
        <p:spPr>
          <a:xfrm flipV="1">
            <a:off x="3748452" y="3172410"/>
            <a:ext cx="2453790" cy="1192672"/>
          </a:xfrm>
          <a:prstGeom prst="straightConnector1">
            <a:avLst/>
          </a:prstGeom>
          <a:ln w="28575">
            <a:solidFill>
              <a:srgbClr val="002060"/>
            </a:solidFill>
            <a:headEnd type="diamond" w="med" len="med"/>
            <a:tailEnd type="triangl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930520" y="4639984"/>
            <a:ext cx="2817932" cy="369332"/>
          </a:xfrm>
          <a:prstGeom prst="rect">
            <a:avLst/>
          </a:prstGeom>
          <a:solidFill>
            <a:srgbClr val="00B0F0"/>
          </a:solidFill>
          <a:ln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juridico.gru.com.br</a:t>
            </a:r>
            <a:endParaRPr lang="pt-BR" dirty="0"/>
          </a:p>
        </p:txBody>
      </p:sp>
      <p:cxnSp>
        <p:nvCxnSpPr>
          <p:cNvPr id="24" name="Conector de Seta Reta 23"/>
          <p:cNvCxnSpPr>
            <a:stCxn id="23" idx="3"/>
            <a:endCxn id="21" idx="1"/>
          </p:cNvCxnSpPr>
          <p:nvPr/>
        </p:nvCxnSpPr>
        <p:spPr>
          <a:xfrm flipV="1">
            <a:off x="3748452" y="3172410"/>
            <a:ext cx="2453790" cy="1652240"/>
          </a:xfrm>
          <a:prstGeom prst="straightConnector1">
            <a:avLst/>
          </a:prstGeom>
          <a:ln w="28575">
            <a:solidFill>
              <a:srgbClr val="002060"/>
            </a:solidFill>
            <a:headEnd type="diamond" w="med" len="med"/>
            <a:tailEnd type="triangl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>
            <a:stCxn id="5" idx="2"/>
            <a:endCxn id="21" idx="0"/>
          </p:cNvCxnSpPr>
          <p:nvPr/>
        </p:nvCxnSpPr>
        <p:spPr>
          <a:xfrm>
            <a:off x="7053263" y="2283581"/>
            <a:ext cx="18684" cy="635512"/>
          </a:xfrm>
          <a:prstGeom prst="straightConnector1">
            <a:avLst/>
          </a:prstGeom>
          <a:ln w="57150">
            <a:solidFill>
              <a:srgbClr val="002060"/>
            </a:solidFill>
            <a:headEnd type="triangle" w="med" len="med"/>
            <a:tailEnd type="triangl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/>
          <p:cNvCxnSpPr>
            <a:stCxn id="21" idx="2"/>
            <a:endCxn id="4" idx="0"/>
          </p:cNvCxnSpPr>
          <p:nvPr/>
        </p:nvCxnSpPr>
        <p:spPr>
          <a:xfrm>
            <a:off x="7071947" y="3425726"/>
            <a:ext cx="16669" cy="613949"/>
          </a:xfrm>
          <a:prstGeom prst="straightConnector1">
            <a:avLst/>
          </a:prstGeom>
          <a:ln w="57150">
            <a:solidFill>
              <a:srgbClr val="002060"/>
            </a:solidFill>
            <a:headEnd type="triangle" w="med" len="med"/>
            <a:tailEnd type="triangl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8461131" y="1792346"/>
            <a:ext cx="28926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Todos os sites apontando para o VIP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Servidor com redundância efetiva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Configurações idênticas nos dois servidores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SO RedHat9 atualizado, com suporte, customizado e com </a:t>
            </a:r>
            <a:r>
              <a:rPr lang="pt-BR" dirty="0" err="1" smtClean="0"/>
              <a:t>Hardening</a:t>
            </a:r>
            <a:endParaRPr lang="pt-BR" dirty="0" smtClean="0"/>
          </a:p>
        </p:txBody>
      </p:sp>
      <p:sp>
        <p:nvSpPr>
          <p:cNvPr id="28" name="Título 1"/>
          <p:cNvSpPr txBox="1">
            <a:spLocks/>
          </p:cNvSpPr>
          <p:nvPr/>
        </p:nvSpPr>
        <p:spPr>
          <a:xfrm>
            <a:off x="801932" y="315172"/>
            <a:ext cx="10515600" cy="7427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000" b="1" dirty="0">
                <a:latin typeface="Verdana"/>
                <a:ea typeface="Adobe 고딕 Std B"/>
              </a:rPr>
              <a:t>Cenário Proposto</a:t>
            </a:r>
            <a:endParaRPr lang="pt-BR" sz="3000" b="1" dirty="0">
              <a:latin typeface="Verdana"/>
              <a:ea typeface="Adobe 고딕 Std B"/>
            </a:endParaRPr>
          </a:p>
        </p:txBody>
      </p:sp>
    </p:spTree>
    <p:extLst>
      <p:ext uri="{BB962C8B-B14F-4D97-AF65-F5344CB8AC3E}">
        <p14:creationId xmlns:p14="http://schemas.microsoft.com/office/powerpoint/2010/main" val="2729569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838200" y="365126"/>
            <a:ext cx="10515600" cy="760290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Verdana"/>
                <a:ea typeface="Adobe 고딕 Std B"/>
                <a:cs typeface="+mj-cs"/>
              </a:defRPr>
            </a:lvl1pPr>
          </a:lstStyle>
          <a:p>
            <a:pPr algn="ctr"/>
            <a:r>
              <a:rPr lang="pt-BR" sz="3200" b="1" dirty="0" smtClean="0"/>
              <a:t>Mudanças sugeridas</a:t>
            </a:r>
            <a:endParaRPr lang="pt-BR" sz="3200" b="1" dirty="0"/>
          </a:p>
        </p:txBody>
      </p:sp>
      <p:sp>
        <p:nvSpPr>
          <p:cNvPr id="6" name="CaixaDeTexto 5"/>
          <p:cNvSpPr txBox="1"/>
          <p:nvPr/>
        </p:nvSpPr>
        <p:spPr>
          <a:xfrm>
            <a:off x="688879" y="1274885"/>
            <a:ext cx="10814242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1. Primeira Mudança:</a:t>
            </a:r>
          </a:p>
          <a:p>
            <a:endParaRPr lang="pt-BR" b="1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b="1" dirty="0"/>
              <a:t>Migrar todos apontamentos </a:t>
            </a:r>
            <a:r>
              <a:rPr lang="pt-BR" b="1" dirty="0" smtClean="0"/>
              <a:t>de sites (</a:t>
            </a:r>
            <a:r>
              <a:rPr lang="pt-BR" b="1" dirty="0" err="1" smtClean="0"/>
              <a:t>dns</a:t>
            </a:r>
            <a:r>
              <a:rPr lang="pt-BR" b="1" dirty="0" smtClean="0"/>
              <a:t> </a:t>
            </a:r>
            <a:r>
              <a:rPr lang="pt-BR" b="1" dirty="0"/>
              <a:t>e </a:t>
            </a:r>
            <a:r>
              <a:rPr lang="pt-BR" b="1" dirty="0" err="1"/>
              <a:t>configs</a:t>
            </a:r>
            <a:r>
              <a:rPr lang="pt-BR" b="1" dirty="0"/>
              <a:t>) do servidor </a:t>
            </a:r>
            <a:r>
              <a:rPr lang="pt-BR" b="1" dirty="0">
                <a:solidFill>
                  <a:srgbClr val="FF0000"/>
                </a:solidFill>
              </a:rPr>
              <a:t>sprdaprpgru03</a:t>
            </a:r>
            <a:r>
              <a:rPr lang="pt-BR" b="1" dirty="0"/>
              <a:t> para </a:t>
            </a:r>
            <a:r>
              <a:rPr lang="pt-BR" b="1" dirty="0">
                <a:solidFill>
                  <a:srgbClr val="FF0000"/>
                </a:solidFill>
              </a:rPr>
              <a:t>sprdaprpgru04.</a:t>
            </a:r>
            <a:endParaRPr lang="pt-BR" b="1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b="1" dirty="0"/>
              <a:t>Servidor </a:t>
            </a:r>
            <a:r>
              <a:rPr lang="pt-BR" b="1" dirty="0" smtClean="0">
                <a:solidFill>
                  <a:srgbClr val="FF0000"/>
                </a:solidFill>
              </a:rPr>
              <a:t>sprdaprpgru03 </a:t>
            </a:r>
            <a:r>
              <a:rPr lang="pt-BR" b="1" dirty="0"/>
              <a:t>será desativado, os </a:t>
            </a:r>
            <a:r>
              <a:rPr lang="pt-BR" b="1" dirty="0" err="1"/>
              <a:t>IPs</a:t>
            </a:r>
            <a:r>
              <a:rPr lang="pt-BR" b="1" dirty="0"/>
              <a:t> (incluindo VIP) serão reutilizados no novo </a:t>
            </a:r>
            <a:r>
              <a:rPr lang="pt-BR" b="1" dirty="0">
                <a:solidFill>
                  <a:srgbClr val="0070C0"/>
                </a:solidFill>
              </a:rPr>
              <a:t>SPRDAPRPGRU14.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b="1" dirty="0"/>
              <a:t>Todos sites após essa mudança irão responder para o </a:t>
            </a:r>
            <a:r>
              <a:rPr lang="pt-BR" b="1" dirty="0">
                <a:solidFill>
                  <a:srgbClr val="FF0000"/>
                </a:solidFill>
              </a:rPr>
              <a:t>sprdaprpgru04.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b="1" dirty="0"/>
              <a:t>Configurações serão revalidadas e </a:t>
            </a:r>
            <a:r>
              <a:rPr lang="pt-BR" b="1" dirty="0" err="1"/>
              <a:t>retestadas</a:t>
            </a:r>
            <a:r>
              <a:rPr lang="pt-BR" b="1" dirty="0"/>
              <a:t> no </a:t>
            </a:r>
            <a:r>
              <a:rPr lang="pt-BR" b="1" dirty="0">
                <a:solidFill>
                  <a:srgbClr val="0070C0"/>
                </a:solidFill>
              </a:rPr>
              <a:t>SPRDAPRPGRU14 </a:t>
            </a:r>
            <a:r>
              <a:rPr lang="pt-BR" b="1" dirty="0"/>
              <a:t>(testes já foram feitos com IP temporário)</a:t>
            </a:r>
          </a:p>
          <a:p>
            <a:endParaRPr lang="pt-BR" b="1" dirty="0"/>
          </a:p>
          <a:p>
            <a:r>
              <a:rPr lang="pt-BR" b="1" dirty="0"/>
              <a:t>2. </a:t>
            </a:r>
            <a:r>
              <a:rPr lang="pt-BR" b="1" dirty="0" smtClean="0"/>
              <a:t>Segunda Mudança (após executar a primeira):</a:t>
            </a:r>
          </a:p>
          <a:p>
            <a:endParaRPr lang="pt-BR" b="1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b="1" dirty="0"/>
              <a:t>Migrar apontamentos dos </a:t>
            </a:r>
            <a:r>
              <a:rPr lang="pt-BR" b="1" dirty="0">
                <a:solidFill>
                  <a:srgbClr val="FF0000"/>
                </a:solidFill>
              </a:rPr>
              <a:t>sprdaprpgru04</a:t>
            </a:r>
            <a:r>
              <a:rPr lang="pt-BR" b="1" dirty="0"/>
              <a:t> para o novo </a:t>
            </a:r>
            <a:r>
              <a:rPr lang="pt-BR" b="1" dirty="0">
                <a:solidFill>
                  <a:srgbClr val="0070C0"/>
                </a:solidFill>
              </a:rPr>
              <a:t>SPRDAPRPGRU14 (</a:t>
            </a:r>
            <a:r>
              <a:rPr lang="pt-BR" b="1" dirty="0" smtClean="0">
                <a:solidFill>
                  <a:srgbClr val="0070C0"/>
                </a:solidFill>
              </a:rPr>
              <a:t>Novo VIP</a:t>
            </a:r>
            <a:r>
              <a:rPr lang="pt-BR" b="1" dirty="0">
                <a:solidFill>
                  <a:srgbClr val="0070C0"/>
                </a:solidFill>
              </a:rPr>
              <a:t>).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b="1" dirty="0"/>
              <a:t>Servidor </a:t>
            </a:r>
            <a:r>
              <a:rPr lang="pt-BR" b="1" dirty="0">
                <a:solidFill>
                  <a:srgbClr val="FF0000"/>
                </a:solidFill>
              </a:rPr>
              <a:t>sprdaprpgru04  </a:t>
            </a:r>
            <a:r>
              <a:rPr lang="pt-BR" b="1" dirty="0"/>
              <a:t>será desativado, IP será reutilizado no novo </a:t>
            </a:r>
            <a:r>
              <a:rPr lang="pt-BR" b="1" dirty="0">
                <a:solidFill>
                  <a:srgbClr val="0070C0"/>
                </a:solidFill>
              </a:rPr>
              <a:t>SPRDAPRPGRU15.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b="1" dirty="0"/>
              <a:t>Todos sites após essa mudança irão responder para o novo </a:t>
            </a:r>
            <a:r>
              <a:rPr lang="pt-BR" b="1" dirty="0">
                <a:solidFill>
                  <a:srgbClr val="0070C0"/>
                </a:solidFill>
              </a:rPr>
              <a:t>VIP.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27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838200" y="365126"/>
            <a:ext cx="10515600" cy="760290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Verdana"/>
                <a:ea typeface="Adobe 고딕 Std B"/>
                <a:cs typeface="+mj-cs"/>
              </a:defRPr>
            </a:lvl1pPr>
          </a:lstStyle>
          <a:p>
            <a:pPr algn="ctr"/>
            <a:r>
              <a:rPr lang="pt-BR" sz="3200" b="1" dirty="0" smtClean="0"/>
              <a:t>Benefícios</a:t>
            </a:r>
            <a:endParaRPr lang="pt-BR" sz="3200" b="1" dirty="0"/>
          </a:p>
        </p:txBody>
      </p:sp>
      <p:sp>
        <p:nvSpPr>
          <p:cNvPr id="3" name="CaixaDeTexto 2"/>
          <p:cNvSpPr txBox="1"/>
          <p:nvPr/>
        </p:nvSpPr>
        <p:spPr>
          <a:xfrm>
            <a:off x="931986" y="1397976"/>
            <a:ext cx="107002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 smtClean="0"/>
              <a:t>Melhor desempenho e suporte a versões atualizadas do apache.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 smtClean="0"/>
              <a:t>Segurança aprimorada com </a:t>
            </a:r>
            <a:r>
              <a:rPr lang="pt-BR" b="1" dirty="0" err="1" smtClean="0"/>
              <a:t>SELinux</a:t>
            </a:r>
            <a:r>
              <a:rPr lang="pt-BR" b="1" dirty="0" smtClean="0"/>
              <a:t>, criptografias atuais e </a:t>
            </a:r>
            <a:r>
              <a:rPr lang="pt-BR" b="1" dirty="0" err="1"/>
              <a:t>H</a:t>
            </a:r>
            <a:r>
              <a:rPr lang="pt-BR" b="1" dirty="0" err="1" smtClean="0"/>
              <a:t>ardening</a:t>
            </a:r>
            <a:r>
              <a:rPr lang="pt-BR" b="1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 smtClean="0"/>
              <a:t>Ferramentas de auditoria com logs detalhados.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 smtClean="0"/>
              <a:t>Servidor com a ultima versão do RedHat com suporte oficial.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 err="1" smtClean="0"/>
              <a:t>Template</a:t>
            </a:r>
            <a:r>
              <a:rPr lang="pt-BR" b="1" dirty="0" smtClean="0"/>
              <a:t> possui zero vulnerabilidades listadas no </a:t>
            </a:r>
            <a:r>
              <a:rPr lang="pt-BR" b="1" dirty="0" err="1" smtClean="0"/>
              <a:t>Qualys</a:t>
            </a:r>
            <a:endParaRPr lang="pt-BR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 smtClean="0"/>
              <a:t>Sites de outros </a:t>
            </a:r>
            <a:r>
              <a:rPr lang="pt-BR" b="1" dirty="0" err="1" smtClean="0"/>
              <a:t>proxys</a:t>
            </a:r>
            <a:r>
              <a:rPr lang="pt-BR" b="1" dirty="0" smtClean="0"/>
              <a:t> serão inclusos nesse ambiente nas próximas </a:t>
            </a:r>
            <a:r>
              <a:rPr lang="pt-BR" b="1" dirty="0" err="1" smtClean="0"/>
              <a:t>gmuds</a:t>
            </a:r>
            <a:r>
              <a:rPr lang="pt-BR" b="1" dirty="0" smtClean="0"/>
              <a:t>, liberando recursos e centralizando o controle.</a:t>
            </a:r>
          </a:p>
        </p:txBody>
      </p:sp>
    </p:spTree>
    <p:extLst>
      <p:ext uri="{BB962C8B-B14F-4D97-AF65-F5344CB8AC3E}">
        <p14:creationId xmlns:p14="http://schemas.microsoft.com/office/powerpoint/2010/main" val="3259800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335</Words>
  <Application>Microsoft Office PowerPoint</Application>
  <PresentationFormat>Widescreen</PresentationFormat>
  <Paragraphs>68</Paragraphs>
  <Slides>6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2" baseType="lpstr">
      <vt:lpstr>Adobe 고딕 Std B</vt:lpstr>
      <vt:lpstr>Arial</vt:lpstr>
      <vt:lpstr>Calibri</vt:lpstr>
      <vt:lpstr>Calibri Light</vt:lpstr>
      <vt:lpstr>Verdana</vt:lpstr>
      <vt:lpstr>Tema do Office</vt:lpstr>
      <vt:lpstr>Novo Proxy Reverso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Evandro Pereira Santiago</dc:creator>
  <cp:lastModifiedBy>Evandro Pereira Santiago</cp:lastModifiedBy>
  <cp:revision>33</cp:revision>
  <dcterms:created xsi:type="dcterms:W3CDTF">2024-10-30T12:36:01Z</dcterms:created>
  <dcterms:modified xsi:type="dcterms:W3CDTF">2024-10-30T18:24:36Z</dcterms:modified>
</cp:coreProperties>
</file>